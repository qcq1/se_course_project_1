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1" r:id="rId3"/>
    <p:sldId id="256" r:id="rId4"/>
    <p:sldId id="257" r:id="rId6"/>
    <p:sldId id="258" r:id="rId7"/>
    <p:sldId id="259" r:id="rId8"/>
    <p:sldId id="260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5C032B-E190-49B4-8308-293E06EAA9C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7CEEBA-5488-4673-870C-D5733F6A0F3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添加了手机匹配，</a:t>
            </a:r>
            <a:r>
              <a:rPr lang="en-US" altLang="zh-CN" dirty="0"/>
              <a:t>uc-1 unlock</a:t>
            </a:r>
            <a:r>
              <a:rPr lang="zh-CN" altLang="en-US"/>
              <a:t>应该不怎么需要修改，主要修改</a:t>
            </a:r>
            <a:r>
              <a:rPr lang="en-US" altLang="zh-CN" dirty="0"/>
              <a:t>sub use case UC-7 </a:t>
            </a:r>
            <a:r>
              <a:rPr lang="en-US" altLang="zh-CN" dirty="0" err="1"/>
              <a:t>authenticateUser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5C032B-E190-49B4-8308-293E06EAA9C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EEEB13-0B0A-4870-A192-A315AD8C555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EEEB13-0B0A-4870-A192-A315AD8C555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1840" y="289560"/>
            <a:ext cx="10915650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			Use Case 1: Unlock</a:t>
            </a:r>
            <a:endParaRPr lang="en-US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68525" y="1692275"/>
          <a:ext cx="7932738" cy="4724404"/>
        </p:xfrm>
        <a:graphic>
          <a:graphicData uri="http://schemas.openxmlformats.org/drawingml/2006/table">
            <a:tbl>
              <a:tblPr/>
              <a:tblGrid>
                <a:gridCol w="482600"/>
                <a:gridCol w="392113"/>
                <a:gridCol w="735012"/>
                <a:gridCol w="6323013"/>
              </a:tblGrid>
              <a:tr h="5159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UC-1: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Unlock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59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Requirem’ts: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REQ1, REQ3, REQ4, and REQ5 stated in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able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REQs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Initiating Actor: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of: Tenant, Landlord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Actor’s Goal: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disarm the lock and enter, and get space lighted up automatically.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59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Participating Actors: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LockDevice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LightSwitch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Timer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7150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set of phone machine code stored in the system database is non-empty.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system displays the menu of available functions; at the door keypad the menu choices are “Lock” and “Unlock.”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Postconditions: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auto-lock timer has started countdown from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autoLockInterval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778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of Events for Main Success Scenario: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arrives at the door and selects the menu item “Unlock”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include::</a:t>
                      </a:r>
                      <a:r>
                        <a:rPr kumimoji="0" lang="en-US" altLang="en-US" sz="1400" b="0" i="1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AuthenticateUser</a:t>
                      </a:r>
                      <a:r>
                        <a:rPr kumimoji="0" lang="en-US" alt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(UC-7)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(a) signals to the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lock status, e.g., “disarmed,” (b) signals to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LockDevice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disarm the lock, and (c) signals to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LightSwitch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turn the light on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signals to the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start the auto-lock timer countdown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opens the door, enters the home [and shuts the door and locks]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2022" name="Text Box 5"/>
          <p:cNvSpPr txBox="1">
            <a:spLocks noChangeAspect="1" noChangeArrowheads="1"/>
          </p:cNvSpPr>
          <p:nvPr/>
        </p:nvSpPr>
        <p:spPr bwMode="auto">
          <a:xfrm>
            <a:off x="8064500" y="1068389"/>
            <a:ext cx="262255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REQ1: Keep door locked and auto-lock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REQ2: Lock when “LOCK” pressed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REQ3: Unlock when valid key provided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REQ4: Allow mistakes but prevent dictionary attacks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REQ5: Maintain a history log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REQ6: Adding/removing users at runtime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REQ7: Configuring the device activation preferences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REQ8: Inspecting the access history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>
                <a:solidFill>
                  <a:srgbClr val="000000"/>
                </a:solidFill>
                <a:latin typeface="Arial" panose="020B0604020202020204" pitchFamily="34" charset="0"/>
              </a:rPr>
              <a:t>REQ9: Filing inquiries</a:t>
            </a:r>
            <a:endParaRPr lang="en-US" altLang="en-US" sz="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	Subroutine «include» Use Case</a:t>
            </a:r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87600" y="1468438"/>
          <a:ext cx="7315200" cy="5443220"/>
        </p:xfrm>
        <a:graphic>
          <a:graphicData uri="http://schemas.openxmlformats.org/drawingml/2006/table">
            <a:tbl>
              <a:tblPr/>
              <a:tblGrid>
                <a:gridCol w="422275"/>
                <a:gridCol w="444500"/>
                <a:gridCol w="433388"/>
                <a:gridCol w="220662"/>
                <a:gridCol w="5794375"/>
              </a:tblGrid>
              <a:tr h="30321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Use Case UC-7: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AuthenticateUser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(sub-use case)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3973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REQ3, REQ4 stated in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able 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REQs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 be positively identified by the system (at the door interface).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3973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AlarmBell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Police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,phoneDB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873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• The set of phone machine code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stored in the system database is non-empty.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• The counter of authentication attempts equals zero.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06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 worth mentioning.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15925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prompts the actor for </a:t>
                      </a:r>
                      <a:r>
                        <a:rPr lang="en-US" altLang="zh-CN" sz="14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using the Bluetooth network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to connect user’s phone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turn on the bluetooth of phone and place it close to the sensing area on the screen.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 (a) verifies that the phone machine code mate through phoneDB successfully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and (b) signals to the actor the phone mate successfully.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Flow of Events for Extensions (Alternate Scenarios):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2a.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Landlord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faild to mate.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(a) detects error, (b) marks a failed attempt, and (c) signals to the actor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60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1.a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(a) detects that the count of failed attempts exceeds the maximum allowed number, (b) signals to sound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AlarmBell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and (c) notifies the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Police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actor of a possible break-in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Tenant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Landlord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mate successfully.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0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Same as in Step 3 above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		Use Case 4: </a:t>
            </a:r>
            <a:r>
              <a:rPr lang="en-US" altLang="zh-CN" dirty="0" err="1"/>
              <a:t>RetireUser</a:t>
            </a:r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29631" y="1395496"/>
          <a:ext cx="7933055" cy="4724400"/>
        </p:xfrm>
        <a:graphic>
          <a:graphicData uri="http://schemas.openxmlformats.org/drawingml/2006/table">
            <a:tbl>
              <a:tblPr/>
              <a:tblGrid>
                <a:gridCol w="482600"/>
                <a:gridCol w="392113"/>
                <a:gridCol w="735012"/>
                <a:gridCol w="6323013"/>
              </a:tblGrid>
              <a:tr h="5159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UC-4: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RetireUser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562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Requirem’ts: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REQ6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Initiating Actor: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48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Actor’s Goal: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departing residents during runtime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16255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Participating Actors: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Tennant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3563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7150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Preconditions: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417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Postconditions: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647" marR="1781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modified data has been saved in the db.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778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of Events for Main Success Scenario: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 the "Manage Users" option.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ermission authentication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Include UC-8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the available actions for the landlord, including "Add User" and "Retire User," and prompt the landlord to make a selection.</a:t>
                      </a:r>
                      <a:endParaRPr kumimoji="0" lang="en-US" sz="14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177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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Landlord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selects the action “Retire User," and delete the user that he/she want to delete.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2" charset="2"/>
                        </a:rPr>
                        <a:t>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the data about the user on a persistent storage(SSD etc), and notification to the landlord successful.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48" marR="6634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2022" name="Text Box 5"/>
          <p:cNvSpPr txBox="1">
            <a:spLocks noChangeAspect="1" noChangeArrowheads="1"/>
          </p:cNvSpPr>
          <p:nvPr/>
        </p:nvSpPr>
        <p:spPr bwMode="auto">
          <a:xfrm>
            <a:off x="8073390" y="1068389"/>
            <a:ext cx="262255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REQ1: Keep door locked and auto-lock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REQ2: Lock when “LOCK” pressed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REQ3: Unlock when valid key provided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REQ4: Allow mistakes but prevent dictionary attacks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REQ5: Maintain a history log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REQ6: Adding/removing users at runtime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REQ7: Configuring the device activation preferences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REQ8: Inspecting the access history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REQ9: Filing inquiries</a:t>
            </a: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	Acceptance Test Case for </a:t>
            </a:r>
            <a:r>
              <a:rPr lang="en-US" altLang="en-US" sz="3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UC-1 Unlock</a:t>
            </a:r>
            <a:endParaRPr lang="en-US" altLang="en-US" sz="3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97114" y="2009775"/>
          <a:ext cx="7418387" cy="4065588"/>
        </p:xfrm>
        <a:graphic>
          <a:graphicData uri="http://schemas.openxmlformats.org/drawingml/2006/table">
            <a:tbl>
              <a:tblPr/>
              <a:tblGrid>
                <a:gridCol w="2286000"/>
                <a:gridCol w="296862"/>
                <a:gridCol w="4835525"/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Test-case Identifier: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TC-1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Tested: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UC-1, main success scenario, and UC-7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9382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 Criteria: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test passes if the user mate the phone machine code that is contained in the database, with less than a maximum allowed number of unsuccessful attempts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Data: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phone, door identifier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</a:tr>
              <a:tr h="31273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Procedure: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938212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1. use a wrong phone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a valid door identifier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beeps to indicate failure;</a:t>
                      </a:r>
                      <a:b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unsuccessful attempt in the database;</a:t>
                      </a:r>
                      <a:b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prompts the user to try again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938212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2. use a available phone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door identifier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flashes a green light to indicate success;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successful access in the database;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disarms the lock device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	Acceptance Test Case for </a:t>
            </a:r>
            <a:r>
              <a:rPr lang="en-US" altLang="en-US" sz="3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UC-4 </a:t>
            </a:r>
            <a:r>
              <a:rPr lang="en-US" altLang="en-US" sz="36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RetireUser</a:t>
            </a:r>
            <a:endParaRPr lang="en-US" altLang="en-US" sz="3600" dirty="0" err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97114" y="2009775"/>
          <a:ext cx="7446950" cy="3789445"/>
        </p:xfrm>
        <a:graphic>
          <a:graphicData uri="http://schemas.openxmlformats.org/drawingml/2006/table">
            <a:tbl>
              <a:tblPr/>
              <a:tblGrid>
                <a:gridCol w="2280299"/>
                <a:gridCol w="343185"/>
                <a:gridCol w="4823466"/>
              </a:tblGrid>
              <a:tr h="2914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Test-case Identifier: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TC-4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</a:tr>
              <a:tr h="2914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Tested: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UC-1, main success scenario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</a:tr>
              <a:tr h="8744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 Criteria: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test passes if the deleted tenant is unable to unlock the previous lock and the number of attempts is less than the maximum allowed number of unsuccessful attempts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</a:tr>
              <a:tr h="2914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Data: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door identifier,The deleted tenant's phone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</a:tr>
              <a:tr h="291496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Procedure: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Result: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874487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the </a:t>
                      </a:r>
                      <a:r>
                        <a:rPr lang="en-US" altLang="en-US" sz="160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deleted tenant's phone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a valid door identifier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beeps to indicate failure;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unsuccessful attempt in the database;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prompts the user to try again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874487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GY4ZTBmNjliMjQ5YzJhMWZmMmMwYWI1Yjk5NjRlMmE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9072</Words>
  <Application>WPS 演示</Application>
  <PresentationFormat>宽屏</PresentationFormat>
  <Paragraphs>488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Comic Sans MS</vt:lpstr>
      <vt:lpstr>Times New Roman</vt:lpstr>
      <vt:lpstr>Symbol</vt:lpstr>
      <vt:lpstr>Calibri</vt:lpstr>
      <vt:lpstr>微软雅黑</vt:lpstr>
      <vt:lpstr>WPS</vt:lpstr>
      <vt:lpstr>PowerPoint 演示文稿</vt:lpstr>
      <vt:lpstr>Use Case 1: Unlock</vt:lpstr>
      <vt:lpstr>Subroutine «include» Use Case</vt:lpstr>
      <vt:lpstr>Use Case 4: RetireUser</vt:lpstr>
      <vt:lpstr>Acceptance Test Case for UC-1 Unlock</vt:lpstr>
      <vt:lpstr>Acceptance Test Case for UC-4 RetireUser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ChangQingDi WanGu</dc:creator>
  <cp:lastModifiedBy>Time Back</cp:lastModifiedBy>
  <cp:revision>5</cp:revision>
  <dcterms:created xsi:type="dcterms:W3CDTF">2023-10-09T06:52:00Z</dcterms:created>
  <dcterms:modified xsi:type="dcterms:W3CDTF">2023-10-09T07:16:58Z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F6469C52816D4AE6A24D6FDE80A4D95B_12</vt:lpwstr>
  </property>
  <property fmtid="{D5CDD505-2E9C-101B-9397-08002B2CF9AE}" pid="3" name="KSOProductBuildVer">
    <vt:lpwstr>2052-12.1.0.15712</vt:lpwstr>
  </property>
</Properties>
</file>